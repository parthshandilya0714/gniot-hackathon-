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1" r:id="rId5"/>
    <p:sldId id="259" r:id="rId6"/>
    <p:sldId id="264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EAAD-9D2A-D2DC-43F6-0D6FE23BA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08FA7-F1A6-B113-B374-F072AD819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5FECD-89D8-C19A-68B5-22F8318EB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79034-FD5A-65EC-B176-DD78ED965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76EB5-CE2F-284F-3832-0B9D8E8B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7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6442-440E-3E08-3874-A7187EF3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7867-5B17-8576-0A06-2802757DC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B82E4-C950-10E3-DBD0-368D64C8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C2898-3192-A629-61D0-7220B9C7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F4E7E-6282-5F8D-78E8-E59529758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29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07C4-403F-2BBD-1639-D8E00F3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4FC34-B8C0-1B39-D67E-34EC6DDCE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2CCB5-63D6-798F-676B-A54B6A39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123C8-E18E-BC50-3CDF-701B4E7D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655F8-5516-74CC-8C33-3BE77249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38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0F9F-1104-B22F-9697-8D6ECE68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6C8DF-B6DB-666D-DCF2-FC101A97B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0B4C-7195-BC14-A594-4A098CF5B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21A10-56D6-16B2-C87B-55E929AC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183B3-E9D2-2349-0189-4375C88B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A8781-B3AA-0B70-67FE-99B7771B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2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7A3F-C224-6943-41C1-23AD1C992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E91EC-7388-DC3F-E867-B13B5FAE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90424-5E72-4396-B27D-24E449A1A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22EBB7-33E3-B2BC-770A-1481038DE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61D052-34AD-46BB-20FD-681D33A87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C3A62E-2FFE-D88F-C056-9814D9741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4FC1A-FD5D-062E-E6C5-1174944C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955A6D-3359-054E-5B62-A9F9FF40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8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49BA-3A47-07B6-CCCF-BEF6D453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ACFD8-B07C-39C8-F433-9347609B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51FC0-585E-7B16-36C5-164BD561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3356C-DCE7-6D73-E1F6-3CBD0CB0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6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CBB08-815F-D5C7-4640-8536D7D9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9A820-CB5B-99E1-2A3E-126378F5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50001-C960-40E6-6F57-54633752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9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4382-F0EC-1E6E-69E0-385436CBE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E2114-7DC1-0537-B394-2C125FA8B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6A992-8F4D-ED04-5535-E2A79BFE0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32444-10CB-3696-E059-CD8FA9AC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2B22E-E174-A2D8-4203-E2B0AED17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2407A-A1B1-BCD5-4474-B0E24F9B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FCC5-55B4-4891-3EE6-CE555772E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EA7F94-45D4-0CE2-41BC-49C5E0C61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75830-2073-E2BB-4DF9-6AA24728D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13004-A44A-565A-D60C-E22E8668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43F08-313A-DFA1-54B4-54A4CD32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588C9-639F-01C1-1F04-DFB2527C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7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AA5E-483B-E2C8-E239-FE45F583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F067-EA4A-99B4-3360-CE0945283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BEB98-9BAB-94E9-7667-A23F486E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6C07A-22B8-70DF-EA63-F5B574A0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E9A9-2CEC-CE2A-BC72-CFE172498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9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1C2619-B87F-788A-C78B-EAD303F13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19C60-B5D1-7E51-0706-2DFE45899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5C8F7-31A3-786E-E381-69DBCBC57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820F9-4C4F-E81E-70BA-F00D8126C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D8A54-1604-3F91-000F-25C048C2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82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7A693-00AD-0A68-23DA-3445A290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BD8ED-6497-8C2A-8732-89F9BC450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5880-5FFC-AEA2-4B08-EC12928E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02BB0-0671-40B6-B10A-F2BC7A97E83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DCD08-5748-C3BA-5773-5BCA9E609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A5C9-EAC0-F1C8-6DFB-3C9B7C11A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3EDBB-B24A-4D4B-8C8C-A3A0D74A9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4D8C8A1-543F-C2A9-D185-0D7148A1A8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/>
                <a:cs typeface="Arial"/>
              </a:rPr>
              <a:t>DUALITY AI’s SPACE STATION </a:t>
            </a:r>
          </a:p>
          <a:p>
            <a:r>
              <a:rPr lang="en-US" sz="3000" b="1" dirty="0">
                <a:latin typeface="Arial"/>
                <a:cs typeface="Arial"/>
              </a:rPr>
              <a:t>CHALLENGE </a:t>
            </a:r>
            <a:r>
              <a:rPr lang="en-US" sz="2800" b="1" dirty="0">
                <a:latin typeface="Arial"/>
                <a:cs typeface="Arial"/>
              </a:rPr>
              <a:t>: </a:t>
            </a:r>
            <a:r>
              <a:rPr lang="en-US" sz="2700" dirty="0">
                <a:latin typeface="Arial"/>
                <a:cs typeface="Arial"/>
              </a:rPr>
              <a:t>SAFETY OBJECT DETECTION</a:t>
            </a:r>
          </a:p>
          <a:p>
            <a:endParaRPr lang="en-US" b="1" dirty="0">
              <a:latin typeface="Arial"/>
              <a:cs typeface="Arial"/>
            </a:endParaRPr>
          </a:p>
          <a:p>
            <a:r>
              <a:rPr lang="en-US" sz="2400" b="1" dirty="0">
                <a:latin typeface="Arial"/>
                <a:cs typeface="Arial"/>
              </a:rPr>
              <a:t>      </a:t>
            </a:r>
            <a:endParaRPr lang="en-US" sz="2400" spc="-10" dirty="0">
              <a:latin typeface="Hagrid ultra bold"/>
              <a:cs typeface="Times New Roman" panose="02020603050405020304" pitchFamily="18" charset="0"/>
            </a:endParaRPr>
          </a:p>
          <a:p>
            <a:endParaRPr lang="en-US" sz="2400" spc="-10" dirty="0">
              <a:latin typeface="Hagrid ultra bold"/>
              <a:cs typeface="Times New Roman" panose="02020603050405020304" pitchFamily="18" charset="0"/>
            </a:endParaRPr>
          </a:p>
          <a:p>
            <a:endParaRPr lang="en-US" sz="2400" spc="-10" dirty="0">
              <a:latin typeface="Hagrid ultra bold"/>
              <a:cs typeface="Times New Roman" panose="02020603050405020304" pitchFamily="18" charset="0"/>
            </a:endParaRPr>
          </a:p>
          <a:p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38C66B-BAEF-96F7-C072-D00F0792F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4357920"/>
            <a:ext cx="2795365" cy="2500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AC0990-F2A0-5B8F-556B-ED8F55D3F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655" y="1660966"/>
            <a:ext cx="4431345" cy="51970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DD8D5F-4491-CDF8-5639-A95A41FB2C5D}"/>
              </a:ext>
            </a:extLst>
          </p:cNvPr>
          <p:cNvSpPr txBox="1"/>
          <p:nvPr/>
        </p:nvSpPr>
        <p:spPr>
          <a:xfrm>
            <a:off x="0" y="2905780"/>
            <a:ext cx="634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: ALGORAGA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7BF683-61E8-44F3-7CD6-C340AEC96875}"/>
              </a:ext>
            </a:extLst>
          </p:cNvPr>
          <p:cNvSpPr txBox="1"/>
          <p:nvPr/>
        </p:nvSpPr>
        <p:spPr>
          <a:xfrm>
            <a:off x="0" y="4754408"/>
            <a:ext cx="50812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Detect. Protect. Perfect — AI Safety Beyond Earth                                                                                                                                                                                              </a:t>
            </a:r>
            <a:r>
              <a:rPr lang="en-US" sz="1200" dirty="0">
                <a:solidFill>
                  <a:schemeClr val="bg1"/>
                </a:solidFill>
              </a:rPr>
              <a:t>Using AI to Detect, Protect, and Perfect Space Safety. Empowering intelligent                                                                                                                                                                                                vision to identify and prevent hazards. Driven by data, strengthened by                                                                                                                                                                                                  innovation. Redefining safety beyond Earth.</a:t>
            </a:r>
          </a:p>
        </p:txBody>
      </p:sp>
    </p:spTree>
    <p:extLst>
      <p:ext uri="{BB962C8B-B14F-4D97-AF65-F5344CB8AC3E}">
        <p14:creationId xmlns:p14="http://schemas.microsoft.com/office/powerpoint/2010/main" val="1459141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FE2C13-F3D7-2087-D0CA-81BC5AD5B7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88C7B-A064-D5E1-5FB6-8E2F5910D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55406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A2631-840E-76FD-8D2A-F1AA5A01D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561" y="-144713"/>
            <a:ext cx="11788877" cy="5289754"/>
          </a:xfrm>
        </p:spPr>
        <p:txBody>
          <a:bodyPr>
            <a:normAutofit/>
          </a:bodyPr>
          <a:lstStyle/>
          <a:p>
            <a:pPr algn="l"/>
            <a:endParaRPr lang="en-US" sz="6000" b="1" dirty="0">
              <a:solidFill>
                <a:schemeClr val="bg1"/>
              </a:solidFill>
              <a:latin typeface="Franklin Gothic Demi" panose="020B0703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METHODOLGY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9AF1B7-D558-50CC-525F-6A52D4C29B39}"/>
              </a:ext>
            </a:extLst>
          </p:cNvPr>
          <p:cNvSpPr/>
          <p:nvPr/>
        </p:nvSpPr>
        <p:spPr>
          <a:xfrm>
            <a:off x="7203804" y="166924"/>
            <a:ext cx="2319636" cy="2538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E1B03-B92E-9DA1-DFAB-57F724BA65DE}"/>
              </a:ext>
            </a:extLst>
          </p:cNvPr>
          <p:cNvSpPr txBox="1"/>
          <p:nvPr/>
        </p:nvSpPr>
        <p:spPr>
          <a:xfrm>
            <a:off x="7362210" y="227458"/>
            <a:ext cx="21729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Data Preparation (Falcon &amp; Synthetic Data)</a:t>
            </a:r>
          </a:p>
          <a:p>
            <a:endParaRPr lang="en-US" sz="11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Utilized the provided high 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fidelity synthetic dataset 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generated by Falcon of the 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space station environment.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Targeted.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Safety Object Classes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(e.g., Toolbox, Oxygen Tank, 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Fire Extinguisher, etc.).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Validated bounding box 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and label accuracy.</a:t>
            </a:r>
          </a:p>
          <a:p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D814AD-E1A4-BE02-89B5-638F5B26F6FB}"/>
              </a:ext>
            </a:extLst>
          </p:cNvPr>
          <p:cNvSpPr/>
          <p:nvPr/>
        </p:nvSpPr>
        <p:spPr>
          <a:xfrm>
            <a:off x="9603657" y="166924"/>
            <a:ext cx="2487562" cy="2538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2.Baseline Model Training (YOLOv8-L)</a:t>
            </a:r>
          </a:p>
          <a:p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YOLOv8-L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(Large) for its balance 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of high accuracy and fast 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inference speed, crucial for 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potential real-time use on an 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orbital compute module.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training using standard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settings (e.g., Batch Size 8, 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10 Epochs).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65C3AD-8F78-1549-B56E-88377DE6606B}"/>
              </a:ext>
            </a:extLst>
          </p:cNvPr>
          <p:cNvSpPr/>
          <p:nvPr/>
        </p:nvSpPr>
        <p:spPr>
          <a:xfrm>
            <a:off x="7284021" y="3184399"/>
            <a:ext cx="2319636" cy="2538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3221D-7D05-5DB1-4C72-95072F171E62}"/>
              </a:ext>
            </a:extLst>
          </p:cNvPr>
          <p:cNvSpPr txBox="1"/>
          <p:nvPr/>
        </p:nvSpPr>
        <p:spPr>
          <a:xfrm>
            <a:off x="7387134" y="3270707"/>
            <a:ext cx="217292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3.Optimization &amp; Fine-Tuning</a:t>
            </a:r>
          </a:p>
          <a:p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aggressive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data augmentation strategies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(Mosaic,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MixUp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Increase generalizability.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Tuning: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Fine-tuned the learning rate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scheduler and optimized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weight decay to prevent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overfitting to the synthetic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domain.</a:t>
            </a:r>
          </a:p>
          <a:p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E02753-B525-A2DD-6DB9-BF464A2C72E2}"/>
              </a:ext>
            </a:extLst>
          </p:cNvPr>
          <p:cNvSpPr/>
          <p:nvPr/>
        </p:nvSpPr>
        <p:spPr>
          <a:xfrm>
            <a:off x="9651915" y="3148993"/>
            <a:ext cx="2448233" cy="2538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48B868-5D97-F37D-5372-EEC5D01C47E8}"/>
              </a:ext>
            </a:extLst>
          </p:cNvPr>
          <p:cNvSpPr txBox="1"/>
          <p:nvPr/>
        </p:nvSpPr>
        <p:spPr>
          <a:xfrm>
            <a:off x="9869129" y="3288824"/>
            <a:ext cx="2222090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4.Iterative Refinement</a:t>
            </a:r>
          </a:p>
          <a:p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early model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failures.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targeted data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augmentation based on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common failure modes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(occlusion, high-glare).</a:t>
            </a:r>
          </a:p>
          <a:p>
            <a:endParaRPr lang="en-US" dirty="0"/>
          </a:p>
        </p:txBody>
      </p:sp>
      <p:pic>
        <p:nvPicPr>
          <p:cNvPr id="5" name="VIDEO HWI">
            <a:hlinkClick r:id="" action="ppaction://media"/>
            <a:extLst>
              <a:ext uri="{FF2B5EF4-FFF2-40B4-BE49-F238E27FC236}">
                <a16:creationId xmlns:a16="http://schemas.microsoft.com/office/drawing/2014/main" id="{0BBC3720-06B3-FF5B-C34E-7D0495386A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958" y="1916594"/>
            <a:ext cx="7069888" cy="41241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69907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3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66ABEB-A6DC-74B0-DA77-032FD4843BB7}"/>
              </a:ext>
            </a:extLst>
          </p:cNvPr>
          <p:cNvSpPr/>
          <p:nvPr/>
        </p:nvSpPr>
        <p:spPr>
          <a:xfrm>
            <a:off x="0" y="-22123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  <a:cs typeface="Times New Roman" panose="02020603050405020304" pitchFamily="18" charset="0"/>
              </a:rPr>
              <a:t>RESULT AND PERFORMANCE</a:t>
            </a:r>
            <a:r>
              <a:rPr lang="en-US" sz="3200" b="1" dirty="0">
                <a:latin typeface="Arial Rounded MT Bold" panose="020F0704030504030204" pitchFamily="34" charset="0"/>
              </a:rPr>
              <a:t>                         </a:t>
            </a:r>
          </a:p>
          <a:p>
            <a:endParaRPr lang="en-US" sz="3200" b="1" dirty="0">
              <a:latin typeface="Algerian" panose="04020705040A02060702" pitchFamily="82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Algerian" panose="04020705040A02060702" pitchFamily="82" charset="0"/>
              </a:rPr>
              <a:t>GRAPHS &amp; CHARTS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sz="1200" dirty="0">
                <a:latin typeface="Arial Rounded MT Bold" panose="020F07040305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200" dirty="0">
                <a:latin typeface="Arial Rounded MT Bold" panose="020F07040305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endParaRPr lang="en-US" sz="1400" dirty="0">
              <a:latin typeface="Arial Rounded MT Bold" panose="020F0704030504030204" pitchFamily="34" charset="0"/>
            </a:endParaRPr>
          </a:p>
          <a:p>
            <a:r>
              <a:rPr lang="en-US" sz="1400" dirty="0">
                <a:latin typeface="Arial Rounded MT Bold" panose="020F0704030504030204" pitchFamily="34" charset="0"/>
              </a:rPr>
              <a:t>                                       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                                           FIG: GRAPH                                                                                                                   FIG: ACCURACY COMPARISON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531B1C-7D15-F791-AB96-324935AB3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6" y="1818969"/>
            <a:ext cx="5153790" cy="4208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B16142-3051-EB84-E41C-3D24CD32E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394" y="873385"/>
            <a:ext cx="5153790" cy="515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1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F15B2A-9B7F-C57C-F159-98EA8443626C}"/>
              </a:ext>
            </a:extLst>
          </p:cNvPr>
          <p:cNvSpPr/>
          <p:nvPr/>
        </p:nvSpPr>
        <p:spPr>
          <a:xfrm>
            <a:off x="0" y="0"/>
            <a:ext cx="12192000" cy="69317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949E07-A238-EFEC-3908-AF73CB663C64}"/>
              </a:ext>
            </a:extLst>
          </p:cNvPr>
          <p:cNvSpPr txBox="1"/>
          <p:nvPr/>
        </p:nvSpPr>
        <p:spPr>
          <a:xfrm>
            <a:off x="226487" y="884345"/>
            <a:ext cx="534093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Britannic Bold" panose="020B0903060703020204" pitchFamily="34" charset="0"/>
              </a:rPr>
              <a:t>PRECISION RECALL AND </a:t>
            </a:r>
          </a:p>
          <a:p>
            <a:r>
              <a:rPr lang="en-US" sz="3500" dirty="0">
                <a:solidFill>
                  <a:schemeClr val="bg1"/>
                </a:solidFill>
                <a:latin typeface="Britannic Bold" panose="020B0903060703020204" pitchFamily="34" charset="0"/>
              </a:rPr>
              <a:t>CONFIDENCE GRAPH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457782-DFEF-1C31-9B54-7F188118B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872" y="3465871"/>
            <a:ext cx="5567857" cy="32245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A3E03D-8299-77A1-FD4E-02383FB00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88" y="2845907"/>
            <a:ext cx="5551421" cy="36995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E2E37C-4180-92E2-DC02-98E440299A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7726"/>
            <a:ext cx="5699037" cy="303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C73120-4392-7CA3-2B43-9ABBFD8DEF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3401C-3F20-C5EA-F650-5B5FAC061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904"/>
            <a:ext cx="9144000" cy="609600"/>
          </a:xfrm>
        </p:spPr>
        <p:txBody>
          <a:bodyPr>
            <a:normAutofit/>
          </a:bodyPr>
          <a:lstStyle/>
          <a:p>
            <a:r>
              <a:rPr lang="en-US" sz="900" b="1" dirty="0">
                <a:latin typeface="Berlin Sans FB Demi" panose="020E0802020502020306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72A7E-6713-A1D8-B0C0-F77D6CCC8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71" y="1042218"/>
            <a:ext cx="11661058" cy="5720877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400" b="1" dirty="0">
                <a:solidFill>
                  <a:schemeClr val="bg1"/>
                </a:solidFill>
                <a:latin typeface="Britannic Bold" panose="020B0903060703020204" pitchFamily="34" charset="0"/>
              </a:rPr>
              <a:t>CONFUSION MATRIX</a:t>
            </a:r>
          </a:p>
          <a:p>
            <a:pPr algn="l"/>
            <a:endParaRPr lang="en-US" b="1" dirty="0">
              <a:solidFill>
                <a:schemeClr val="bg1"/>
              </a:solidFill>
            </a:endParaRPr>
          </a:p>
          <a:p>
            <a:pPr algn="l"/>
            <a:endParaRPr lang="en-US" b="1" dirty="0">
              <a:solidFill>
                <a:schemeClr val="bg1"/>
              </a:solidFill>
            </a:endParaRPr>
          </a:p>
          <a:p>
            <a:pPr algn="l"/>
            <a:endParaRPr lang="en-US" b="1" dirty="0">
              <a:solidFill>
                <a:schemeClr val="bg1"/>
              </a:solidFill>
            </a:endParaRPr>
          </a:p>
          <a:p>
            <a:pPr algn="l"/>
            <a:endParaRPr lang="en-US" b="1" dirty="0">
              <a:solidFill>
                <a:schemeClr val="bg1"/>
              </a:solidFill>
            </a:endParaRPr>
          </a:p>
          <a:p>
            <a:pPr algn="l"/>
            <a:endParaRPr lang="en-US" b="1" dirty="0">
              <a:solidFill>
                <a:schemeClr val="bg1"/>
              </a:solidFill>
            </a:endParaRPr>
          </a:p>
          <a:p>
            <a:pPr algn="l"/>
            <a:endParaRPr lang="en-US" b="1" dirty="0">
              <a:solidFill>
                <a:schemeClr val="bg1"/>
              </a:solidFill>
            </a:endParaRPr>
          </a:p>
          <a:p>
            <a:pPr algn="l"/>
            <a:r>
              <a:rPr lang="en-US" b="1" dirty="0">
                <a:solidFill>
                  <a:schemeClr val="bg1"/>
                </a:solidFill>
              </a:rPr>
              <a:t>CFF</a:t>
            </a:r>
          </a:p>
          <a:p>
            <a:pPr algn="l"/>
            <a:endParaRPr lang="en-US" b="1" dirty="0">
              <a:solidFill>
                <a:schemeClr val="bg1"/>
              </a:solidFill>
            </a:endParaRPr>
          </a:p>
          <a:p>
            <a:pPr algn="l"/>
            <a:endParaRPr lang="en-US" b="1" dirty="0">
              <a:solidFill>
                <a:schemeClr val="bg1"/>
              </a:solidFill>
            </a:endParaRPr>
          </a:p>
          <a:p>
            <a:pPr algn="l"/>
            <a:endParaRPr lang="en-US" b="1" dirty="0">
              <a:solidFill>
                <a:schemeClr val="bg1"/>
              </a:solidFill>
            </a:endParaRPr>
          </a:p>
          <a:p>
            <a:pPr algn="l"/>
            <a:endParaRPr lang="en-US" sz="1200" b="1" dirty="0">
              <a:solidFill>
                <a:schemeClr val="bg1"/>
              </a:solidFill>
            </a:endParaRPr>
          </a:p>
          <a:p>
            <a:pPr algn="l"/>
            <a:r>
              <a:rPr lang="en-US" sz="1200" b="1" dirty="0">
                <a:solidFill>
                  <a:schemeClr val="bg1"/>
                </a:solidFill>
              </a:rPr>
              <a:t>                                                 FIG.(a) CONFUSION MATRIX                                                                                                                          FIG.(b) CONFUSION MATRIX NORMALIZED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0C24E3-9102-2715-5DB2-F6CD988F5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89" y="1848465"/>
            <a:ext cx="5728928" cy="42966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268410-2D04-28FF-6245-6F86158FD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293" y="1848465"/>
            <a:ext cx="5728928" cy="429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6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A3F98B-B45C-302D-35C4-8980A4BE91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5D51E-6A49-40A2-E4FB-1E307442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6700"/>
            <a:ext cx="11109582" cy="1325563"/>
          </a:xfrm>
        </p:spPr>
        <p:txBody>
          <a:bodyPr>
            <a:normAutofit/>
          </a:bodyPr>
          <a:lstStyle/>
          <a:p>
            <a:b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3200" b="1" dirty="0">
                <a:solidFill>
                  <a:schemeClr val="bg1"/>
                </a:solidFill>
                <a:latin typeface="Britannic Bold" panose="020B0903060703020204" pitchFamily="34" charset="0"/>
              </a:rPr>
              <a:t>BEFORE &amp; AFTER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46E46-E3A9-2D67-098F-905C11BAC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28458" y="702033"/>
            <a:ext cx="5584723" cy="593660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BEFORE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F69EBD5-806C-5C3E-1418-5AAB55F20C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88" y="1841533"/>
            <a:ext cx="4173796" cy="4173796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5002C0-B566-F395-AF26-6EEE3A9C1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38683" y="785134"/>
            <a:ext cx="5673213" cy="540429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AFTER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F26B130-2781-8942-2651-CD2EC5ECFA0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550" y="2020908"/>
            <a:ext cx="5673213" cy="3248801"/>
          </a:xfr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B21F2FCD-028D-ADA7-A76B-2DB61C4C22EF}"/>
              </a:ext>
            </a:extLst>
          </p:cNvPr>
          <p:cNvSpPr/>
          <p:nvPr/>
        </p:nvSpPr>
        <p:spPr>
          <a:xfrm>
            <a:off x="4768644" y="2737294"/>
            <a:ext cx="1327355" cy="593660"/>
          </a:xfrm>
          <a:prstGeom prst="rightArrow">
            <a:avLst>
              <a:gd name="adj1" fmla="val 37395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76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64F653-FFCA-03B2-E590-E50585A80C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12F44-C987-A4F0-4996-86378B521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312"/>
            <a:ext cx="9144000" cy="804760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Bodoni MT Black" panose="02070A03080606020203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40C83-0828-9DF8-58BD-3E40AFE88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739" y="271884"/>
            <a:ext cx="11764521" cy="6276399"/>
          </a:xfrm>
        </p:spPr>
        <p:txBody>
          <a:bodyPr/>
          <a:lstStyle/>
          <a:p>
            <a:pPr algn="l"/>
            <a:r>
              <a:rPr lang="en-US" b="1" u="sng" dirty="0">
                <a:solidFill>
                  <a:schemeClr val="bg1"/>
                </a:solidFill>
                <a:latin typeface="Algerian" panose="04020705040A02060702" pitchFamily="82" charset="0"/>
              </a:rPr>
              <a:t>CHALLENGES</a:t>
            </a:r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                                                  </a:t>
            </a:r>
            <a:r>
              <a:rPr lang="en-US" b="1" u="sng" dirty="0">
                <a:solidFill>
                  <a:schemeClr val="bg1"/>
                </a:solidFill>
                <a:latin typeface="Algerian" panose="04020705040A02060702" pitchFamily="82" charset="0"/>
              </a:rPr>
              <a:t>SOLUTION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[1]  YOLO model trained on synthetic digital twin dataset for space safety 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objects.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[2] Optimized parameters improved accuracy evaluated by </a:t>
            </a:r>
            <a:r>
              <a:rPr 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confusion  matrix.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[3] Achieved real-time detection with enhanced inference speed and reduced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errors.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[4] Detects seven critical safety objects including oxygen tanks and fire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extinguishers.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[5] Increased Input Resolution and Feature Weighting to force the model to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prioritize subtle, distinguishing features (logos, fine details) rather than just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general shape and color. (Your result: +8% reduction in classification error).</a:t>
            </a:r>
          </a:p>
          <a:p>
            <a:pPr algn="l"/>
            <a:r>
              <a:rPr lang="en-US" sz="1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sz="1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Optimizing parameters (like the learning rate 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scheduler) to ensure the model converges to the most stable, accurate state.</a:t>
            </a:r>
          </a:p>
          <a:p>
            <a:pPr algn="l"/>
            <a:endParaRPr lang="en-US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21CDE-DD0C-9ED9-7566-812D9FD9BDF0}"/>
              </a:ext>
            </a:extLst>
          </p:cNvPr>
          <p:cNvSpPr txBox="1"/>
          <p:nvPr/>
        </p:nvSpPr>
        <p:spPr>
          <a:xfrm>
            <a:off x="86417" y="585380"/>
            <a:ext cx="64069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YOLOv8 (especially large versions) require GPUs for fast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training.Without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 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to cloud GPUs (e.g., Google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Pro, AWS), training time can be very long.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Finding the right values for confidence thresholds, learning rates, input image 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sizes, etc., is non-trivial and usually requires multiple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experiments.Finding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right values for confidence thresholds, learning rates, input image sizes, etc., is 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non-trivial and usually requires multiple experiments.</a:t>
            </a:r>
          </a:p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Many space objects are similar in appearance (e.g., different tanks or panels).The 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model may confuse them without distinctive features.</a:t>
            </a:r>
          </a:p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Evaluating model with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(mean Average Precision) at multiple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thresholds 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(like mAP@0.5, mAP@0.5:0.95) can be complex for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beginners.You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might get 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high precision but low recall, meaning the model misses many detections.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FADCCC-6D46-76B5-4795-1901466F1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027" y="4603362"/>
            <a:ext cx="2654817" cy="209978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DE248F-FDCF-EDA3-8F01-DFEA35DE7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72" y="4471253"/>
            <a:ext cx="2266325" cy="211486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4DBF36-ED55-7C27-083E-11373A843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03" y="4373323"/>
            <a:ext cx="2255939" cy="209978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130620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FEAD6C-F00E-18C1-CE83-ED3782EEE3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5510F-9B0C-87C5-1128-5E96628E4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76691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32581-BE79-83E9-3496-332285C50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43" y="1209367"/>
            <a:ext cx="11425084" cy="50734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7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700" u="sng" dirty="0">
                <a:solidFill>
                  <a:schemeClr val="bg1"/>
                </a:solidFill>
                <a:latin typeface="Arial MT"/>
              </a:rPr>
              <a:t>:- 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Arial MT"/>
              </a:rPr>
              <a:t>The model achieved high mAP@0.5, reliably detecting all seven safety objects </a:t>
            </a:r>
            <a:r>
              <a:rPr lang="en-US" sz="1200" dirty="0" err="1">
                <a:solidFill>
                  <a:schemeClr val="bg1"/>
                </a:solidFill>
                <a:latin typeface="Arial MT"/>
              </a:rPr>
              <a:t>i.e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        Oxygen Tank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        Nitrogen Tank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        First Aid Box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        Fire Extinguisher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        Fire Alarm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        Safety Switch Panel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        Emergency Phone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under occlusion, lighting changes, and varying viewpoints, ensuring operational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safety with optimized accuracy and efficiency.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1"/>
              </a:solidFill>
              <a:latin typeface="Arial MT"/>
            </a:endParaRPr>
          </a:p>
          <a:p>
            <a:pPr algn="l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</a:t>
            </a:r>
          </a:p>
          <a:p>
            <a:pPr algn="l"/>
            <a:r>
              <a:rPr lang="en-US" sz="17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Work:-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Arial MT"/>
              </a:rPr>
              <a:t>Domain adaptation for synthetic-to-real transfer.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Self-supervised pretraining with unlabeled data. 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Arial MT"/>
              </a:rPr>
              <a:t>Multi-view detection </a:t>
            </a:r>
            <a:r>
              <a:rPr lang="en-US" sz="1200" dirty="0" err="1">
                <a:solidFill>
                  <a:schemeClr val="bg1"/>
                </a:solidFill>
                <a:latin typeface="Arial MT"/>
              </a:rPr>
              <a:t>integration.Automated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Arial MT"/>
              </a:rPr>
              <a:t>    model updates via Falcon pipeline.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5EDEC7-472D-587B-1A98-E30751386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0" y="1779395"/>
            <a:ext cx="229237" cy="1849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1B52197-A0C5-27D9-A85A-BCB5BB534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18" y="2016519"/>
            <a:ext cx="229237" cy="1849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559797-A1ED-3E3F-C3D7-D7FD3B40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0" y="2263848"/>
            <a:ext cx="229237" cy="1849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A06790-ED73-D5E8-DEE1-91E128FAD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0" y="2511177"/>
            <a:ext cx="229237" cy="1849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50661D6-075E-5D21-9ECF-A38FDF384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18" y="2768711"/>
            <a:ext cx="229237" cy="1849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ADFA0F6-7648-758E-B9E2-89D87E804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0" y="3078422"/>
            <a:ext cx="229237" cy="18494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1B97DE-3D48-781F-C71F-40EDF768C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18" y="3351846"/>
            <a:ext cx="229237" cy="18494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5412005-5DEF-E35E-9F2A-C93150669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446" y="964821"/>
            <a:ext cx="2505091" cy="1391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A103EB5-7E11-3CAE-6A75-98E38ABD0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142" y="939024"/>
            <a:ext cx="2412143" cy="13681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4583F23-788F-66B5-519A-930ED252A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261" y="3151229"/>
            <a:ext cx="2369590" cy="11847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711047A-6D48-21D0-79BC-C7BE9CA51A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142" y="3078422"/>
            <a:ext cx="2349972" cy="12576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EFA9E3-8084-D5F6-2281-070AF336DF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783" y="4804347"/>
            <a:ext cx="2833508" cy="14784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939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</TotalTime>
  <Words>725</Words>
  <Application>Microsoft Office PowerPoint</Application>
  <PresentationFormat>Widescreen</PresentationFormat>
  <Paragraphs>152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5" baseType="lpstr">
      <vt:lpstr>Algerian</vt:lpstr>
      <vt:lpstr>Arial</vt:lpstr>
      <vt:lpstr>Arial Black</vt:lpstr>
      <vt:lpstr>Arial MT</vt:lpstr>
      <vt:lpstr>Arial Rounded MT Bold</vt:lpstr>
      <vt:lpstr>Berlin Sans FB Demi</vt:lpstr>
      <vt:lpstr>Bodoni MT Black</vt:lpstr>
      <vt:lpstr>Britannic Bold</vt:lpstr>
      <vt:lpstr>Broadway</vt:lpstr>
      <vt:lpstr>Calibri</vt:lpstr>
      <vt:lpstr>Calibri Light</vt:lpstr>
      <vt:lpstr>Franklin Gothic Demi</vt:lpstr>
      <vt:lpstr>Gadugi</vt:lpstr>
      <vt:lpstr>Hagrid ultra bold</vt:lpstr>
      <vt:lpstr>Times New Roman</vt:lpstr>
      <vt:lpstr>Wingdings</vt:lpstr>
      <vt:lpstr>Office Theme</vt:lpstr>
      <vt:lpstr>PowerPoint Presentation</vt:lpstr>
      <vt:lpstr>.</vt:lpstr>
      <vt:lpstr>PowerPoint Presentation</vt:lpstr>
      <vt:lpstr>PowerPoint Presentation</vt:lpstr>
      <vt:lpstr>.</vt:lpstr>
      <vt:lpstr> BEFORE &amp; AFTER IMAGES</vt:lpstr>
      <vt:lpstr>.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Palak Tiwary</dc:creator>
  <cp:lastModifiedBy>Palak Tiwary</cp:lastModifiedBy>
  <cp:revision>6</cp:revision>
  <dcterms:created xsi:type="dcterms:W3CDTF">2025-10-17T14:07:38Z</dcterms:created>
  <dcterms:modified xsi:type="dcterms:W3CDTF">2025-10-18T08:10:59Z</dcterms:modified>
</cp:coreProperties>
</file>